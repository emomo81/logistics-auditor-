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On Time</c:v>
                </c:pt>
                <c:pt idx="1">
                  <c:v>Late</c:v>
                </c:pt>
                <c:pt idx="2">
                  <c:v>Super Late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88644</c:v>
                </c:pt>
                <c:pt idx="1">
                  <c:v>3615</c:v>
                </c:pt>
                <c:pt idx="2">
                  <c:v>4211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Late Orders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SE — 15.2%</c:v>
                  </c:pt>
                  <c:pt idx="1">
                    <c:v>CE — 15.3%</c:v>
                  </c:pt>
                  <c:pt idx="2">
                    <c:v>PI — 16.0%</c:v>
                  </c:pt>
                  <c:pt idx="3">
                    <c:v>MA — 19.7%</c:v>
                  </c:pt>
                  <c:pt idx="4">
                    <c:v>AL — 23.9%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15.2</c:v>
                </c:pt>
                <c:pt idx="1">
                  <c:v>15.3</c:v>
                </c:pt>
                <c:pt idx="2">
                  <c:v>16</c:v>
                </c:pt>
                <c:pt idx="3">
                  <c:v>19.7</c:v>
                </c:pt>
                <c:pt idx="4">
                  <c:v>23.9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Review Score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On Time</c:v>
                  </c:pt>
                  <c:pt idx="1">
                    <c:v>Late</c:v>
                  </c:pt>
                  <c:pt idx="2">
                    <c:v>Super Late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4.21</c:v>
                </c:pt>
                <c:pt idx="1">
                  <c:v>3.42</c:v>
                </c:pt>
                <c:pt idx="2">
                  <c:v>2.72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Late Deliveries</c:v>
                </c:pt>
              </c:strCache>
            </c:strRef>
          </c:tx>
          <c:spPr>
            <a:solidFill>
              <a:srgbClr val="E74C3C"/>
            </a:solidFill>
            <a:ln w="3175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Oct-16</c:v>
                  </c:pt>
                  <c:pt idx="1">
                    <c:v>Nov-16</c:v>
                  </c:pt>
                  <c:pt idx="2">
                    <c:v>Dec-16</c:v>
                  </c:pt>
                  <c:pt idx="3">
                    <c:v>Jan-17</c:v>
                  </c:pt>
                  <c:pt idx="4">
                    <c:v>Feb-17</c:v>
                  </c:pt>
                  <c:pt idx="5">
                    <c:v>Mar-17</c:v>
                  </c:pt>
                  <c:pt idx="6">
                    <c:v>Apr-17</c:v>
                  </c:pt>
                  <c:pt idx="7">
                    <c:v>May-17</c:v>
                  </c:pt>
                  <c:pt idx="8">
                    <c:v>Jun-17</c:v>
                  </c:pt>
                  <c:pt idx="9">
                    <c:v>Jul-17</c:v>
                  </c:pt>
                  <c:pt idx="10">
                    <c:v>Aug-17</c:v>
                  </c:pt>
                  <c:pt idx="11">
                    <c:v>Sep-17</c:v>
                  </c:pt>
                  <c:pt idx="12">
                    <c:v>Oct-17</c:v>
                  </c:pt>
                  <c:pt idx="13">
                    <c:v>Nov-17</c:v>
                  </c:pt>
                  <c:pt idx="14">
                    <c:v>Dec-17</c:v>
                  </c:pt>
                  <c:pt idx="15">
                    <c:v>Jan-18</c:v>
                  </c:pt>
                  <c:pt idx="16">
                    <c:v>Feb-18</c:v>
                  </c:pt>
                  <c:pt idx="17">
                    <c:v>Mar-18</c:v>
                  </c:pt>
                  <c:pt idx="18">
                    <c:v>Apr-18</c:v>
                  </c:pt>
                  <c:pt idx="19">
                    <c:v>May-18</c:v>
                  </c:pt>
                  <c:pt idx="20">
                    <c:v>Jun-18</c:v>
                  </c:pt>
                  <c:pt idx="21">
                    <c:v>Jul-18</c:v>
                  </c:pt>
                  <c:pt idx="22">
                    <c:v>Aug-18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14.2</c:v>
                </c:pt>
                <c:pt idx="1">
                  <c:v>11.8</c:v>
                </c:pt>
                <c:pt idx="2">
                  <c:v>17.5</c:v>
                </c:pt>
                <c:pt idx="3">
                  <c:v>9.6</c:v>
                </c:pt>
                <c:pt idx="4">
                  <c:v>8.1</c:v>
                </c:pt>
                <c:pt idx="5">
                  <c:v>7.4</c:v>
                </c:pt>
                <c:pt idx="6">
                  <c:v>8.2</c:v>
                </c:pt>
                <c:pt idx="7">
                  <c:v>8.8</c:v>
                </c:pt>
                <c:pt idx="8">
                  <c:v>7</c:v>
                </c:pt>
                <c:pt idx="9">
                  <c:v>8.5</c:v>
                </c:pt>
                <c:pt idx="10">
                  <c:v>7.9</c:v>
                </c:pt>
                <c:pt idx="11">
                  <c:v>6.3</c:v>
                </c:pt>
                <c:pt idx="12">
                  <c:v>7.1</c:v>
                </c:pt>
                <c:pt idx="13">
                  <c:v>9</c:v>
                </c:pt>
                <c:pt idx="14">
                  <c:v>13.8</c:v>
                </c:pt>
                <c:pt idx="15">
                  <c:v>7.8</c:v>
                </c:pt>
                <c:pt idx="16">
                  <c:v>7.2</c:v>
                </c:pt>
                <c:pt idx="17">
                  <c:v>8.4</c:v>
                </c:pt>
                <c:pt idx="18">
                  <c:v>9.1</c:v>
                </c:pt>
                <c:pt idx="19">
                  <c:v>10.2</c:v>
                </c:pt>
                <c:pt idx="20">
                  <c:v>9.4</c:v>
                </c:pt>
                <c:pt idx="21">
                  <c:v>11.1</c:v>
                </c:pt>
                <c:pt idx="22">
                  <c:v>12.3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1000" kern="0" dirty="0">
                <a:solidFill>
                  <a:srgbClr val="FFFFFF"/>
                </a:solidFill>
              </a:rPr>
              <a:t>LAST MILE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0" y="173736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1000" kern="0" dirty="0">
                <a:solidFill>
                  <a:srgbClr val="F4A226"/>
                </a:solidFill>
              </a:rPr>
              <a:t>DELIVERY AUDIT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3291840" y="2724912"/>
            <a:ext cx="2560320" cy="457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9077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ADCFC"/>
                </a:solidFill>
              </a:rPr>
              <a:t>Veridi Logistics  ·  Olist Brazilian E-Commerce Dataset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0" y="4526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01  ·  THE BUSINESS PROBLEM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1234440"/>
          </a:xfrm>
          <a:prstGeom prst="rect">
            <a:avLst/>
          </a:prstGeom>
          <a:solidFill>
            <a:srgbClr val="EBF4FB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96112"/>
            <a:ext cx="73152" cy="12344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932688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i="1" dirty="0">
                <a:solidFill>
                  <a:srgbClr val="1A2E44"/>
                </a:solidFill>
              </a:rPr>
              <a:t>“Are we failing specific regions, or is this a nationwide problem?”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76656" y="1901952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— Veridi Logistics CEO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2267712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2267712"/>
            <a:ext cx="260604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377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93776" y="2999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E44"/>
                </a:solidFill>
              </a:rPr>
              <a:t>Estimated vs Actual Dates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3776" y="3474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Are promised delivery dates accurate, or are we over-committing to customers?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82112" y="2267712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2267712"/>
            <a:ext cx="260604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2377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0" y="2999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E44"/>
                </a:solidFill>
              </a:rPr>
              <a:t>Regional vs Nationwide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91840" y="3474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Is the problem concentrated in specific states, or is it systemic nationwide?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0176" y="2267712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0176" y="2267712"/>
            <a:ext cx="260604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0176" y="2377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89904" y="2999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E44"/>
                </a:solidFill>
              </a:rPr>
              <a:t>Impact on Sentiment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89904" y="3474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Are late deliveries the root cause of rising negative customer reviews?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02  ·  DATA &amp; METHODOLOGY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914400"/>
            <a:ext cx="1920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14400"/>
            <a:ext cx="1920240" cy="65836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14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75488" y="1664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44"/>
                </a:solidFill>
              </a:rPr>
              <a:t>Load &amp; Join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" y="2176272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4 tables merged: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Orders + Reviews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+ Customers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+ Products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78024" y="914400"/>
            <a:ext cx="1920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78024" y="914400"/>
            <a:ext cx="1920240" cy="658368"/>
          </a:xfrm>
          <a:prstGeom prst="rect">
            <a:avLst/>
          </a:prstGeom>
          <a:solidFill>
            <a:srgbClr val="2C7873"/>
          </a:solidFill>
          <a:ln w="12700">
            <a:solidFill>
              <a:srgbClr val="2C78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914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69464" y="1664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44"/>
                </a:solidFill>
              </a:rPr>
              <a:t>Calculate Delay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9464" y="2176272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Days_Difference 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Estimated 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− Actual Date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1920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914400"/>
            <a:ext cx="192024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914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63440" y="1664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44"/>
                </a:solidFill>
              </a:rPr>
              <a:t>Classify Orders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2176272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On Time  (≥0d)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Late  (0 to −5d)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Super Late  (&lt;−5d)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65976" y="914400"/>
            <a:ext cx="1920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65976" y="914400"/>
            <a:ext cx="1920240" cy="658368"/>
          </a:xfrm>
          <a:prstGeom prst="rect">
            <a:avLst/>
          </a:prstGeom>
          <a:solidFill>
            <a:srgbClr val="555F6D"/>
          </a:solidFill>
          <a:ln w="12700">
            <a:solidFill>
              <a:srgbClr val="555F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914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57416" y="1664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44"/>
                </a:solidFill>
              </a:rPr>
              <a:t>Exclude Non-Deliveries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57416" y="2176272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Canceled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unavailable 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removed first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4709160"/>
            <a:ext cx="8375904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709160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7DD2"/>
                </a:solidFill>
              </a:rPr>
              <a:t>96,470 delivered orders analysed  ·  Dataset: Olist Brazilian E-Commerce (Kaggle)  ·  Excluded: ~625 canceled / unavailable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03  ·  FINDING 1: DELIVERY STATUS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932688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32688"/>
            <a:ext cx="64008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0241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AE60"/>
                </a:solidFill>
              </a:rPr>
              <a:t>91.9%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85216" y="1554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</a:rPr>
              <a:t>On Time  —  88,644 orders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" y="2084832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2084832"/>
            <a:ext cx="64008" cy="10515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1762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9C12"/>
                </a:solidFill>
              </a:rPr>
              <a:t>3.7%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85216" y="2706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</a:rPr>
              <a:t>Late (0 to 5 days late)  —  3,615 orders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3236976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3236976"/>
            <a:ext cx="64008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33284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4C3C"/>
                </a:solidFill>
              </a:rPr>
              <a:t>4.4%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85216" y="3858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</a:rPr>
              <a:t>Super Late (&gt;5 days late)  —  4,211 orders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663440" y="804672"/>
          <a:ext cx="4206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04  ·  FINDING 2: IT’S A REGIONAL PROBLEM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3949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68680"/>
            <a:ext cx="3017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868680"/>
            <a:ext cx="301752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7DD2"/>
                </a:solidFill>
              </a:rPr>
              <a:t>Key Insight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035040" y="141732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All 5 worst states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 are in Brazil’s </a:t>
            </a:r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</a:rPr>
              <a:t>Northeast region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 — geographically far from the main São Paulo distribution hubs.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2880360"/>
            <a:ext cx="26517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29992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</a:rPr>
              <a:t>Recommendation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3364992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Focus last-mile investment on Northeast states first. This is not a nationwide problem — targeted spend will deliver the highest ROI.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05  ·  FINDING 3: LATE DELIVERIES DRIVE BAD REVIEWS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3949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68680"/>
            <a:ext cx="3017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868680"/>
            <a:ext cx="301752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</a:rPr>
              <a:t>Review Score Breakdown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14813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★ 4.21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35040" y="1901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On Time orders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35040" y="2258568"/>
            <a:ext cx="26517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377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</a:rPr>
              <a:t>★ 3.42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726680" y="237744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−19%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35040" y="27980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Late orders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3154680"/>
            <a:ext cx="26517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32735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</a:rPr>
              <a:t>★ 2.72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726680" y="327355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−35%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035040" y="36941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Super Late orders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35040" y="4206240"/>
            <a:ext cx="26517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4315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3E50"/>
                </a:solidFill>
              </a:rPr>
              <a:t>Super Late orders score 35% lower than On Time — a direct, measurable link between logistics and customer satisfaction.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06  ·  CANDIDATE’S CHOICE: MONTHLY PERFORMANCE TREND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841248"/>
            <a:ext cx="1417320" cy="274320"/>
          </a:xfrm>
          <a:prstGeom prst="rect">
            <a:avLst/>
          </a:prstGeom>
          <a:solidFill>
            <a:srgbClr val="F4A226"/>
          </a:solidFill>
          <a:ln w="12700">
            <a:solidFill>
              <a:srgbClr val="F4A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41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BONUS FEATURE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20240" y="85953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</a:rPr>
              <a:t>A snapshot tells the CEO how bad it is today. A trend shows if it’s getting worse — and when it started.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188720"/>
          <a:ext cx="8595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D2"/>
                </a:solidFill>
              </a:rPr>
              <a:t>Holiday spikes visible in Dec 2016 &amp; Dec 2017. Upward trend in mid-2018 signals worsening performance. See live dashboard for exact figures from your dataset.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148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700" kern="0" dirty="0">
                <a:solidFill>
                  <a:srgbClr val="FFFFFF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0" y="1097280"/>
            <a:ext cx="2743200" cy="45720"/>
          </a:xfrm>
          <a:prstGeom prst="rect">
            <a:avLst/>
          </a:prstGeom>
          <a:solidFill>
            <a:srgbClr val="F4A226"/>
          </a:solidFill>
          <a:ln w="12700">
            <a:solidFill>
              <a:srgbClr val="F4A2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1280160"/>
            <a:ext cx="2578608" cy="3520440"/>
          </a:xfrm>
          <a:prstGeom prst="rect">
            <a:avLst/>
          </a:prstGeom>
          <a:solidFill>
            <a:srgbClr val="1E3A5A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280160"/>
            <a:ext cx="2578608" cy="6217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80160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Fix Northeast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Last-Mile First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5216" y="26974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AL, MA, PI, CE, SE have 2–4× the national late rate. Targeted carrier partnerships or regional depots will deliver the highest ROI — not a nationwide overhaul.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18688" y="1280160"/>
            <a:ext cx="2578608" cy="3520440"/>
          </a:xfrm>
          <a:prstGeom prst="rect">
            <a:avLst/>
          </a:prstGeom>
          <a:solidFill>
            <a:srgbClr val="1E3A5A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280160"/>
            <a:ext cx="2578608" cy="6217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1280160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28416" y="1975104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Recalibrate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Delivery ETAs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64992" y="26974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8.1% of orders miss their promised date. ETA algorithms must be recalibrated to account for Northeast shipping times — stopping the cycle of over-promise and under-deliver.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98464" y="1280160"/>
            <a:ext cx="2578608" cy="3520440"/>
          </a:xfrm>
          <a:prstGeom prst="rect">
            <a:avLst/>
          </a:prstGeom>
          <a:solidFill>
            <a:srgbClr val="1E3A5A"/>
          </a:solidFill>
          <a:ln w="25400">
            <a:solidFill>
              <a:srgbClr val="2D7D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98464" y="1280160"/>
            <a:ext cx="2578608" cy="6217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1280160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08192" y="1975104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Track Monthly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Performance KPIs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44768" y="26974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Implement a monthly review of late-delivery rate vs. review score. The trend chart shows the problem is measurable — and therefore fixable and trackable over time.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8C8"/>
                </a:solidFill>
              </a:rPr>
              <a:t>Live dashboard: https://kpkujdhbawruts6v4zeapps.streamlit.app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Last Mile Delivery Audit - Veridi Logistics</dc:title>
  <dc:subject>PptxGenJS Presentation</dc:subject>
  <dc:creator>PptxGenJS</dc:creator>
  <cp:lastModifiedBy>PptxGenJS</cp:lastModifiedBy>
  <cp:revision>1</cp:revision>
  <dcterms:created xsi:type="dcterms:W3CDTF">2026-05-24T02:12:14Z</dcterms:created>
  <dcterms:modified xsi:type="dcterms:W3CDTF">2026-05-24T02:12:14Z</dcterms:modified>
</cp:coreProperties>
</file>